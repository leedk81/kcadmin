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  <p:sldId id="275" r:id="rId13"/>
    <p:sldId id="276" r:id="rId14"/>
    <p:sldId id="277" r:id="rId15"/>
    <p:sldId id="290" r:id="rId16"/>
    <p:sldId id="291" r:id="rId17"/>
    <p:sldId id="28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431" userDrawn="1">
          <p15:clr>
            <a:srgbClr val="A4A3A4"/>
          </p15:clr>
        </p15:guide>
        <p15:guide id="3" pos="2245" userDrawn="1">
          <p15:clr>
            <a:srgbClr val="A4A3A4"/>
          </p15:clr>
        </p15:guide>
        <p15:guide id="4" pos="40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8" y="54"/>
      </p:cViewPr>
      <p:guideLst>
        <p:guide orient="horz" pos="1620"/>
        <p:guide pos="431"/>
        <p:guide pos="2245"/>
        <p:guide pos="40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9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92ED1-D4DD-CABA-52E2-34FC6057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C3F7E-19DB-C851-947C-DF2C5D25D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4EE83-0BF4-8CFB-90FA-78BD0CEF3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D326D-2103-EA9D-788E-2CB73AE36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57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3" name="Image 0" descr="/mnt/user-data/uploads/177561047127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28016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02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55555"/>
                </a:solidFill>
              </a:rPr>
              <a:t>Platform Business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102E"/>
                </a:solidFill>
              </a:rPr>
              <a:t>Business Briefing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2026.04.13</a:t>
            </a:r>
            <a:endParaRPr lang="en-US" sz="3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아이지넷</a:t>
            </a:r>
            <a:endParaRPr lang="en-US" sz="3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사업간담회</a:t>
            </a:r>
            <a:endParaRPr lang="en-US" sz="3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플랫폼 사업 추진 방향 보고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333333"/>
                </a:solidFill>
              </a:rPr>
              <a:t>APRIL 13, 2026  ·  CONFIDENTIAL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548640"/>
            <a:ext cx="13716" cy="4023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365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</a:rPr>
              <a:t>Agenda — Jason 발표 파트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204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플랫폼 사업 추진 방향</a:t>
            </a:r>
            <a:endParaRPr 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1064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01   왜 지금인가 — 보험시장의 구조적 변화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892040" y="1481328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4904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02   우리의 전략적 선택 — 보험시장의 팔란티어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892040" y="1865376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1874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03   KC — OS의 핵심 엔진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92040" y="2249424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258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04   보험시장 OS 생태계 전체 흐름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892040" y="2633472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26426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05   Phase별 실행 계획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892040" y="3017520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0266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06   디지털 트윈 — 보험시장 시뮬레이션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892040" y="3401568"/>
            <a:ext cx="3931920" cy="329184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0" y="34107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07   기대 성과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92040" y="39044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참석자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892040" y="4206240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47488" y="41422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Charles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72200" y="4142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회장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892040" y="4453128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47488" y="43891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Jason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72200" y="43891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플랫폼사업본부장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892040" y="4700016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47488" y="46360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Joseph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172200" y="46360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사업전략경영기획실장 · 이사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01 ·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보험시장에 구조적 변화가 시작됐다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D0D6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01</a:t>
            </a:r>
            <a:endParaRPr lang="en-US" sz="3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리드 파이프라인의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입구가 바뀌고 있다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사용자들이 보험 정보를 bodoc이 아닌 ChatGPT에 먼저 묻기 시작했다. 정보 탐색 채널의 이동은 유입 감소로 이어진다.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74320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71600"/>
            <a:ext cx="2743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17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D0D6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02</a:t>
            </a:r>
            <a:endParaRPr lang="en-US" sz="3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규제산업에서 AI는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아무나 쓸 수 없다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범용 AI는 보험 도메인에서 오답을 낸다. 금융소비자보호법 위반 리스크. 이것이 오히려 우리의 기회다.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27432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17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D0D6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03</a:t>
            </a:r>
            <a:endParaRPr lang="en-US" sz="3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지식이 체계화된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회사가 시장을 지배한다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AI를 제대로 쓰려면 도메인 지식이 먼저 구조화되어야 한다. 지금 기초를 놓는 회사가 3년 후 시장의 인프라가 된다.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50392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2452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위협과 기회가 동시에 열려 있다</a:t>
            </a:r>
            <a:r>
              <a:rPr lang="en-US" sz="13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지금 </a:t>
            </a:r>
            <a:r>
              <a:rPr lang="en-US" sz="13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움직이는 회사가 인프라가 되고, 늦은 회사는 그 위에 올라타는 플레이어가 된다.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02 · STRATEGIC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우리의 전략적 선택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4350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444444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VISION STATEMENT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55381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아이지넷은 </a:t>
            </a:r>
            <a:endParaRPr lang="en-US" sz="28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보험시장의 팔란티어가 된다</a:t>
            </a:r>
            <a:endParaRPr lang="en-US" sz="2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4582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2" y="2553428"/>
            <a:ext cx="1463040" cy="434936"/>
          </a:xfrm>
          <a:prstGeom prst="rect">
            <a:avLst/>
          </a:prstGeom>
          <a:solidFill>
            <a:srgbClr val="2A0A0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팔란티어 &amp; 온톨로지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72644" y="2500420"/>
            <a:ext cx="64769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팔란티어는 단순한 데이터 분석 툴이 아니다. 정부·군·기업의 데이터를 온톨로지 구조로 연결해 의사결정 OS를 만든다. 한번 구축되면 그 조직은 팔란티어 없이는 움직이지 </a:t>
            </a:r>
            <a:r>
              <a:rPr lang="en-US" sz="105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못한다.</a:t>
            </a:r>
            <a:endParaRPr lang="en-US" sz="105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114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지식 인프라 — KC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보험 도메인 지식을 구조화한 온톨로지 엔진.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LLM은 교체되어도 KC는 교체되지 않는 자산이다.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0" y="3154680"/>
            <a:ext cx="4114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유통 인프라 </a:t>
            </a:r>
            <a:r>
              <a:rPr lang="en-US" sz="1500" b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— </a:t>
            </a:r>
            <a:r>
              <a:rPr lang="ko-KR" altLang="en-US" sz="1500" b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리드 </a:t>
            </a:r>
            <a:r>
              <a:rPr lang="en-US" sz="1500" b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파이프라인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83480" y="3547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bodoc + CRM + GA 네트워크.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리드 생성부터 계약까지 전체 파이프라인을 보유한다.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457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앱은 </a:t>
            </a:r>
            <a:r>
              <a:rPr lang="ko-KR" alt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대</a:t>
            </a:r>
            <a:r>
              <a:rPr 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체</a:t>
            </a:r>
            <a:r>
              <a:rPr lang="ko-KR" alt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될 수 있</a:t>
            </a:r>
            <a:r>
              <a:rPr 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다, </a:t>
            </a:r>
            <a:r>
              <a:rPr lang="ko-KR" alt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그러나</a:t>
            </a:r>
            <a:r>
              <a:rPr 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 인프라는 </a:t>
            </a:r>
            <a:r>
              <a:rPr lang="ko-KR" alt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쉽게 대</a:t>
            </a:r>
            <a:r>
              <a:rPr lang="en-US" sz="1500" i="1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체되지 </a:t>
            </a:r>
            <a:r>
              <a:rPr lang="en-US" sz="1500" i="1" dirty="0">
                <a:solidFill>
                  <a:srgbClr val="999999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않는다.</a:t>
            </a:r>
            <a:endParaRPr lang="en-US" sz="15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03 · KNOWLEDGE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KC — 보험 도메인을 구조화한 지식 엔진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①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Concept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48840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보험 용어·개념 정의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9222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②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Risk-type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48840" y="17922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고객 리스크 유형 분류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9456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③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1945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Rule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48840" y="21945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진단 조건·로직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2523744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9689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④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25968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Evidence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48840" y="259689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판단 근거 데이터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2926080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2980944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9923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⑤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2999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Playbook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148840" y="29992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리드 전환·배정 전략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4400" y="3328416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0156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⑥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3401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Policy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148840" y="34015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규제 준수·출력 통제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3730752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↓</a:t>
            </a:r>
            <a:endParaRPr lang="en-US" sz="9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3785616"/>
            <a:ext cx="4389120" cy="347472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0390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⑦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" y="38039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Case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148840" y="38039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성공 케이스 피드백 축적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9200" y="1371600"/>
            <a:ext cx="3657600" cy="1152144"/>
          </a:xfrm>
          <a:prstGeom prst="rect">
            <a:avLst/>
          </a:prstGeom>
          <a:solidFill>
            <a:srgbClr val="FAE8EB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371600"/>
            <a:ext cx="45720" cy="11521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One Source, Triple Use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20640" y="1719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KC 카드 하나가 AIO 콘텐츠(외부 권위), Clark/Lois AI 지식 베이스(진단 품질</a:t>
            </a:r>
            <a:r>
              <a:rPr lang="en-US" sz="12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), </a:t>
            </a:r>
          </a:p>
          <a:p>
            <a:pPr marL="0" indent="0">
              <a:buNone/>
            </a:pPr>
            <a:r>
              <a:rPr lang="ko-KR" altLang="en-US" sz="12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도메인</a:t>
            </a:r>
            <a:r>
              <a:rPr lang="en-US" sz="12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sz="12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교육(온보딩)을 동시에 해결한다.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029200" y="2578608"/>
            <a:ext cx="365760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67296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핵심 전략 자산</a:t>
            </a:r>
            <a:endParaRPr lang="en-US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20640" y="296053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LLM(AI 엔진)은 교체할 수 있다.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KC 온톨로지는 교체할 수 없는 자산이다.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KC가 쌓일수록 경쟁사가 따라올 수 없는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지식 해자(moat)가 형성된다.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7200" y="4274492"/>
            <a:ext cx="8229600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25368"/>
            <a:ext cx="1097280" cy="201168"/>
          </a:xfrm>
          <a:prstGeom prst="rect">
            <a:avLst/>
          </a:prstGeom>
          <a:solidFill>
            <a:srgbClr val="FAE8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온톨로지란?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645920" y="4315640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어떤 분야의 지식을 개념·관계·규칙으로 구조화한 체계. KC가 바로 보험 도메인의 온톨로지다.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04 ·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지식에서 계약까지 — 하나의 </a:t>
            </a:r>
            <a:r>
              <a:rPr lang="en-US" sz="3000" b="1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흐름으로 연결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783080"/>
            <a:ext cx="146304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74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KC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304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Knowledge Core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7종 카드·온톨로지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74520" y="1783080"/>
            <a:ext cx="146304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874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Clark / Lois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2304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KC 기반 AI 진단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(브랜드명 검토 중)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74720" y="1783080"/>
            <a:ext cx="146304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74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리드 전환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440" y="2304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aGCR 스코어링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배정 최적화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74920" y="1783080"/>
            <a:ext cx="146304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874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CRM 플랫폼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20640" y="23042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리드 배분</a:t>
            </a:r>
          </a:p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·상담 관리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37360" y="2377440"/>
            <a:ext cx="13716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377440"/>
            <a:ext cx="13716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377440"/>
            <a:ext cx="13716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706216"/>
            <a:ext cx="192024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733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더파트너스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12280" y="20262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자체 GA · 보닥플래너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66560" y="2437736"/>
            <a:ext cx="1920240" cy="59436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465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제휴 GA · 보험사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2280" y="27577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외부 채널 파트너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19" y="3246120"/>
            <a:ext cx="1828799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파트너 임베디드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520440" y="3584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헬스케어 · 핀테크 앱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412480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39" y="4320540"/>
            <a:ext cx="113107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aGCR이란?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82148" y="4197096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아이지넷 자체 설계 리드 품질 스코어링 모델</a:t>
            </a:r>
            <a:r>
              <a:rPr lang="en-US" sz="11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전환 </a:t>
            </a:r>
            <a:r>
              <a:rPr lang="en-US" sz="11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가능성·예상 수익·유지율·비용 종합 → 최적 설계사 자동 배정.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FD9B7A4D-6B36-453F-8EBB-A9ACDCA4428C}"/>
              </a:ext>
            </a:extLst>
          </p:cNvPr>
          <p:cNvSpPr/>
          <p:nvPr/>
        </p:nvSpPr>
        <p:spPr>
          <a:xfrm flipV="1">
            <a:off x="6537960" y="2026256"/>
            <a:ext cx="228600" cy="35118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7096BA1E-A448-41D4-9863-5FB54BA1D301}"/>
              </a:ext>
            </a:extLst>
          </p:cNvPr>
          <p:cNvSpPr/>
          <p:nvPr/>
        </p:nvSpPr>
        <p:spPr>
          <a:xfrm>
            <a:off x="6537960" y="2392016"/>
            <a:ext cx="228600" cy="36576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AF584348-2686-407A-99E4-6C80C8D6AC6B}"/>
              </a:ext>
            </a:extLst>
          </p:cNvPr>
          <p:cNvCxnSpPr>
            <a:cxnSpLocks/>
            <a:stCxn id="20" idx="0"/>
            <a:endCxn id="5" idx="0"/>
          </p:cNvCxnSpPr>
          <p:nvPr/>
        </p:nvCxnSpPr>
        <p:spPr>
          <a:xfrm rot="16200000" flipH="1" flipV="1">
            <a:off x="4327828" y="-1615772"/>
            <a:ext cx="76864" cy="6720840"/>
          </a:xfrm>
          <a:prstGeom prst="curvedConnector3">
            <a:avLst>
              <a:gd name="adj1" fmla="val -374993"/>
            </a:avLst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27"/>
          <p:cNvSpPr/>
          <p:nvPr/>
        </p:nvSpPr>
        <p:spPr>
          <a:xfrm>
            <a:off x="2808112" y="1339926"/>
            <a:ext cx="3168000" cy="2286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C3344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Case 피드백 루프 — 계약 데이터가 KC를 강화한다</a:t>
            </a:r>
            <a:endParaRPr lang="en-US" sz="1000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05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단계별로 검증하며 확장한다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59CFAED-653F-4B71-8037-A2AC36C1F008}"/>
              </a:ext>
            </a:extLst>
          </p:cNvPr>
          <p:cNvGrpSpPr/>
          <p:nvPr/>
        </p:nvGrpSpPr>
        <p:grpSpPr>
          <a:xfrm>
            <a:off x="462502" y="1371600"/>
            <a:ext cx="1829114" cy="2386582"/>
            <a:chOff x="548640" y="1371600"/>
            <a:chExt cx="1829114" cy="2386582"/>
          </a:xfrm>
        </p:grpSpPr>
        <p:sp>
          <p:nvSpPr>
            <p:cNvPr id="5" name="Shape 3"/>
            <p:cNvSpPr/>
            <p:nvPr/>
          </p:nvSpPr>
          <p:spPr>
            <a:xfrm>
              <a:off x="548640" y="1371600"/>
              <a:ext cx="1828800" cy="594360"/>
            </a:xfrm>
            <a:prstGeom prst="rect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13480" y="1399032"/>
              <a:ext cx="166254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kern="0" spc="200" dirty="0">
                  <a:solidFill>
                    <a:srgbClr val="FFCCCC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현재 진행 중</a:t>
              </a:r>
              <a:endParaRPr lang="en-US" sz="9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613480" y="1600200"/>
              <a:ext cx="166254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Phase 1</a:t>
              </a:r>
              <a:endParaRPr lang="en-US" sz="15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48640" y="1965960"/>
              <a:ext cx="1828800" cy="1792222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15558" y="2011680"/>
              <a:ext cx="1704109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8102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KC 지식 체계가 실제 운용 가능한가?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52995" y="2542032"/>
              <a:ext cx="1778083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55219" y="2560318"/>
              <a:ext cx="1822535" cy="1197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KC </a:t>
              </a:r>
              <a:r>
                <a:rPr lang="en-US" sz="1100" dirty="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Admin </a:t>
              </a: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MVP 개발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7종 카드 입력 시작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추가 인프라 비용 없음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32CCF7E-8F63-40BE-900D-286D0B8E9A51}"/>
              </a:ext>
            </a:extLst>
          </p:cNvPr>
          <p:cNvGrpSpPr/>
          <p:nvPr/>
        </p:nvGrpSpPr>
        <p:grpSpPr>
          <a:xfrm>
            <a:off x="2593673" y="1371600"/>
            <a:ext cx="1829114" cy="2386582"/>
            <a:chOff x="2492074" y="1371600"/>
            <a:chExt cx="1829114" cy="2386582"/>
          </a:xfrm>
        </p:grpSpPr>
        <p:sp>
          <p:nvSpPr>
            <p:cNvPr id="16" name="Shape 14"/>
            <p:cNvSpPr/>
            <p:nvPr/>
          </p:nvSpPr>
          <p:spPr>
            <a:xfrm>
              <a:off x="2492074" y="1371600"/>
              <a:ext cx="1828800" cy="594360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2556914" y="1399032"/>
              <a:ext cx="166254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kern="0" spc="200" dirty="0">
                  <a:solidFill>
                    <a:srgbClr val="888888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Phase 1.5</a:t>
              </a:r>
              <a:endParaRPr lang="en-US" sz="9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2556914" y="1600200"/>
              <a:ext cx="166254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시장 검증</a:t>
              </a:r>
              <a:endParaRPr lang="en-US" sz="15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2492074" y="1965960"/>
              <a:ext cx="1828800" cy="1792222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2558992" y="2011680"/>
              <a:ext cx="1704109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8102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KC 기반 AI 진단이 전환율을 높이는가?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2496429" y="2542032"/>
              <a:ext cx="1778083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2498653" y="2542033"/>
              <a:ext cx="1822535" cy="12161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Clark</a:t>
              </a:r>
              <a:r>
                <a:rPr lang="en-US" sz="1100" dirty="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/Lois 독립 </a:t>
              </a: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웹뷰 런칭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FC 리드 핸드오프 연동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전환율 A/B 데이터 수집</a:t>
              </a:r>
              <a:endParaRPr lang="en-US" sz="1100">
                <a:solidFill>
                  <a:srgbClr val="2A2A2A"/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56F0208-66D4-4C6E-A2E7-BAE65EE95D27}"/>
              </a:ext>
            </a:extLst>
          </p:cNvPr>
          <p:cNvGrpSpPr/>
          <p:nvPr/>
        </p:nvGrpSpPr>
        <p:grpSpPr>
          <a:xfrm>
            <a:off x="4724844" y="1371600"/>
            <a:ext cx="1829114" cy="2386582"/>
            <a:chOff x="4640914" y="1371600"/>
            <a:chExt cx="1829114" cy="2386582"/>
          </a:xfrm>
        </p:grpSpPr>
        <p:sp>
          <p:nvSpPr>
            <p:cNvPr id="27" name="Shape 25"/>
            <p:cNvSpPr/>
            <p:nvPr/>
          </p:nvSpPr>
          <p:spPr>
            <a:xfrm>
              <a:off x="4640914" y="1371600"/>
              <a:ext cx="1828800" cy="594360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705754" y="1399032"/>
              <a:ext cx="166254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kern="0" spc="200" dirty="0">
                  <a:solidFill>
                    <a:srgbClr val="888888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Phase 2</a:t>
              </a:r>
              <a:endParaRPr lang="en-US" sz="9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4705754" y="1600200"/>
              <a:ext cx="166254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자동화 확장</a:t>
              </a:r>
              <a:endParaRPr lang="en-US" sz="15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4640914" y="1965960"/>
              <a:ext cx="1828800" cy="1792222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707832" y="2011680"/>
              <a:ext cx="1704109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8102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Agent 기반 자동 배정이 더 효율적인가?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4645269" y="2542032"/>
              <a:ext cx="1778083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4647493" y="2560318"/>
              <a:ext cx="1822535" cy="119786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aGCR </a:t>
              </a:r>
              <a:r>
                <a:rPr lang="en-US" sz="1100" dirty="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스코어링 </a:t>
              </a: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본격 운용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Graph RAG 도입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보험사 API 연동 확장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37" name="Text 35"/>
          <p:cNvSpPr/>
          <p:nvPr/>
        </p:nvSpPr>
        <p:spPr>
          <a:xfrm>
            <a:off x="4701984" y="3734403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Phase 1.5 완료 후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74E46F6F-EB15-4D2B-BA6C-DD02CB05A282}"/>
              </a:ext>
            </a:extLst>
          </p:cNvPr>
          <p:cNvGrpSpPr/>
          <p:nvPr/>
        </p:nvGrpSpPr>
        <p:grpSpPr>
          <a:xfrm>
            <a:off x="6856014" y="1371600"/>
            <a:ext cx="1829114" cy="2386582"/>
            <a:chOff x="6856014" y="1371600"/>
            <a:chExt cx="1829114" cy="2386582"/>
          </a:xfrm>
        </p:grpSpPr>
        <p:sp>
          <p:nvSpPr>
            <p:cNvPr id="38" name="Shape 36"/>
            <p:cNvSpPr/>
            <p:nvPr/>
          </p:nvSpPr>
          <p:spPr>
            <a:xfrm>
              <a:off x="6856014" y="1371600"/>
              <a:ext cx="1828800" cy="594360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920854" y="1399032"/>
              <a:ext cx="166254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kern="0" spc="200" dirty="0">
                  <a:solidFill>
                    <a:srgbClr val="888888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Phase 3</a:t>
              </a:r>
              <a:endParaRPr lang="en-US" sz="9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920854" y="1600200"/>
              <a:ext cx="166254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시장 예측</a:t>
              </a:r>
              <a:endParaRPr lang="en-US" sz="15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856014" y="1965960"/>
              <a:ext cx="1828800" cy="1792222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6922932" y="2011680"/>
              <a:ext cx="1704109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C8102E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시뮬레이션으로 시장을 예측할 수 있는가?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6860369" y="2542032"/>
              <a:ext cx="1778083" cy="0"/>
            </a:xfrm>
            <a:prstGeom prst="line">
              <a:avLst/>
            </a:prstGeom>
            <a:noFill/>
            <a:ln w="6350">
              <a:solidFill>
                <a:srgbClr val="E8E8E8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6862593" y="2542033"/>
              <a:ext cx="1822535" cy="12161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디지털 </a:t>
              </a:r>
              <a:r>
                <a:rPr lang="en-US" sz="1100" dirty="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트윈 </a:t>
              </a:r>
              <a:r>
                <a:rPr lang="en-US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엔진 구축</a:t>
              </a: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보험시장 시나리오 시뮬레이션</a:t>
              </a:r>
            </a:p>
            <a:p>
              <a:pPr marL="85725" indent="-8572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>
                  <a:solidFill>
                    <a:srgbClr val="2A2A2A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Case 자동 보정 파이프라인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48" name="Text 46"/>
          <p:cNvSpPr/>
          <p:nvPr/>
        </p:nvSpPr>
        <p:spPr>
          <a:xfrm>
            <a:off x="6833154" y="3734403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Case 500건 축적 후</a:t>
            </a:r>
            <a:endParaRPr 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57200" y="4130044"/>
            <a:ext cx="8229600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092" y="4285492"/>
            <a:ext cx="9283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설계 원칙</a:t>
            </a:r>
            <a:endParaRPr 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65582" y="4175763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각 Phase는 기술 개발이 아닌 비즈니스 가설 검증의 </a:t>
            </a:r>
            <a:r>
              <a:rPr lang="en-US" sz="11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단계다.</a:t>
            </a:r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검증이 </a:t>
            </a:r>
            <a:r>
              <a:rPr lang="en-US" sz="11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완료될 때마다 다음 단계의 투자 근거가 만들어진다.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06 · DIGITAL TWIN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데이터가 쌓이면, 시장을 예측할 수 있다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111111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KC·Clark·CRM을 통해 축적된 실제 데이터로 보험시장의 가상 복제본(디지털 트윈)을 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만든다.</a:t>
            </a:r>
          </a:p>
          <a:p>
            <a:pPr marL="0" indent="0"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"이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조건이 바뀌면 시장이 어떻게 움직이는가"를 사전에 시뮬레이션한다.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840480" cy="1325880"/>
          </a:xfrm>
          <a:prstGeom prst="rect">
            <a:avLst/>
          </a:prstGeom>
          <a:solidFill>
            <a:srgbClr val="1A1A1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진입 전제 조건</a:t>
            </a:r>
            <a:endParaRPr lang="en-US" sz="12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Case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카드 500건 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이상 축적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Phase 2 Agent · Graph RAG 인프라 완성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고객·설계사·상품·보험사·채널 5개 노드 데이터 확보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solidFill>
            <a:srgbClr val="2A0A0F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시뮬레이션 항목</a:t>
            </a:r>
            <a:endParaRPr lang="en-US" sz="1200" b="1" dirty="0">
              <a:solidFill>
                <a:schemeClr val="bg1">
                  <a:lumMod val="9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chemeClr val="bg1">
                    <a:lumMod val="9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할 수 있게 되는 것</a:t>
            </a:r>
            <a:endParaRPr lang="en-US" sz="1200" b="1" dirty="0">
              <a:solidFill>
                <a:schemeClr val="bg1">
                  <a:lumMod val="9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1783080"/>
            <a:ext cx="4114800" cy="457200"/>
          </a:xfrm>
          <a:prstGeom prst="rect">
            <a:avLst/>
          </a:prstGeom>
          <a:solidFill>
            <a:srgbClr val="111111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56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CC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고객 행동 예측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185623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리스크 유형별 고객이 어떤 시점에 전환되는가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4114800" cy="457200"/>
          </a:xfrm>
          <a:prstGeom prst="rect">
            <a:avLst/>
          </a:prstGeom>
          <a:solidFill>
            <a:srgbClr val="161616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3591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CC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설계사 배정 최적화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0" y="235915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어떤 설계사에게 어떤 리드를 줄 때 계약률이 가장 높은가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4114800" cy="457200"/>
          </a:xfrm>
          <a:prstGeom prst="rect">
            <a:avLst/>
          </a:prstGeom>
          <a:solidFill>
            <a:srgbClr val="111111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62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CC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상품·채널 전략 검증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2862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신규 상품 출시 시 예상 반응을 사전에 시뮬레이션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0" y="3291840"/>
            <a:ext cx="4114800" cy="457200"/>
          </a:xfrm>
          <a:prstGeom prst="rect">
            <a:avLst/>
          </a:prstGeom>
          <a:solidFill>
            <a:srgbClr val="161616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CC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규제 변화 대응</a:t>
            </a:r>
            <a:endParaRPr lang="en-US"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83680" y="33649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정책 및 규제 변화 사전 대응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955774"/>
            <a:ext cx="8229600" cy="849398"/>
          </a:xfrm>
          <a:prstGeom prst="rect">
            <a:avLst/>
          </a:prstGeom>
          <a:solidFill>
            <a:srgbClr val="111111"/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89033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디지털 트윈이란?</a:t>
            </a:r>
            <a:endParaRPr lang="en-US" sz="1200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20240" y="4001494"/>
            <a:ext cx="6675120" cy="803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실제 세계의 시스템을 데이터로 복제한 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가상 모델. 제조업에서는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공장을 가상 복제해 생산 최적화에 활용한다</a:t>
            </a:r>
            <a:r>
              <a:rPr lang="en-US" sz="110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  아이지넷의 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디지털 트윈은 보험시장 전체를 가상 복제해 움직임을 사전에 시뮬레이션하는 것을 목표로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</a:rPr>
              <a:t>07 · EXPECTED 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아이지넷이 도달할 포지션</a:t>
            </a:r>
            <a:endParaRPr lang="en-US" sz="3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5FA67C5-4E8C-4EFB-BFC0-409D5500A9A0}"/>
              </a:ext>
            </a:extLst>
          </p:cNvPr>
          <p:cNvGrpSpPr/>
          <p:nvPr/>
        </p:nvGrpSpPr>
        <p:grpSpPr>
          <a:xfrm>
            <a:off x="463826" y="1371600"/>
            <a:ext cx="2592000" cy="2788920"/>
            <a:chOff x="457200" y="1371600"/>
            <a:chExt cx="2743200" cy="2788920"/>
          </a:xfrm>
        </p:grpSpPr>
        <p:sp>
          <p:nvSpPr>
            <p:cNvPr id="5" name="Shape 3"/>
            <p:cNvSpPr/>
            <p:nvPr/>
          </p:nvSpPr>
          <p:spPr>
            <a:xfrm>
              <a:off x="457200" y="1371600"/>
              <a:ext cx="2743200" cy="548640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2A2A2A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48640" y="1399032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kern="0" spc="200" dirty="0">
                  <a:solidFill>
                    <a:schemeClr val="bg1">
                      <a:lumMod val="8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단기 · Phase 1~1.5</a:t>
              </a:r>
              <a:endParaRPr lang="en-US" sz="10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검증과 첫 레퍼런스</a:t>
              </a:r>
              <a:endParaRPr lang="en-US" sz="14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920240"/>
              <a:ext cx="2743200" cy="2240280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48640" y="2066544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85800" y="1960262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Clark/Lois 전환율 데이터 확보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85800" y="2286000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KC의 사업적 가치를 수치로 증명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2779776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85800" y="2683764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파트너 임베디드 첫 레퍼런스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85800" y="2978226"/>
              <a:ext cx="2423160" cy="3639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외부 Acquisition 채널 </a:t>
              </a: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확장 가능성 실증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3493008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85800" y="3387852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200" b="1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GA </a:t>
              </a:r>
              <a:r>
                <a:rPr lang="ko-KR" altLang="en-US" sz="1200" b="1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데이터 파이프라인 구축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5800" y="3680459"/>
              <a:ext cx="2423160" cy="371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100">
                  <a:latin typeface="HY신명조" panose="02030600000101010101" pitchFamily="18" charset="-127"/>
                  <a:ea typeface="HY신명조" panose="02030600000101010101" pitchFamily="18" charset="-127"/>
                </a:rPr>
                <a:t>외부</a:t>
              </a:r>
              <a:r>
                <a:rPr lang="en-US" sz="1100">
                  <a:latin typeface="HY신명조" panose="02030600000101010101" pitchFamily="18" charset="-127"/>
                  <a:ea typeface="HY신명조" panose="02030600000101010101" pitchFamily="18" charset="-127"/>
                </a:rPr>
                <a:t> GA SaaS </a:t>
              </a:r>
              <a:r>
                <a:rPr lang="ko-KR" altLang="en-US" sz="1100">
                  <a:latin typeface="HY신명조" panose="02030600000101010101" pitchFamily="18" charset="-127"/>
                  <a:ea typeface="HY신명조" panose="02030600000101010101" pitchFamily="18" charset="-127"/>
                </a:rPr>
                <a:t>공급 모델</a:t>
              </a:r>
              <a:r>
                <a:rPr lang="en-US" altLang="ko-KR" sz="1100">
                  <a:latin typeface="HY신명조" panose="02030600000101010101" pitchFamily="18" charset="-127"/>
                  <a:ea typeface="HY신명조" panose="02030600000101010101" pitchFamily="18" charset="-127"/>
                </a:rPr>
                <a:t>(AI CRM)</a:t>
              </a:r>
              <a:r>
                <a:rPr lang="ko-KR" altLang="en-US" sz="1100">
                  <a:latin typeface="HY신명조" panose="02030600000101010101" pitchFamily="18" charset="-127"/>
                  <a:ea typeface="HY신명조" panose="02030600000101010101" pitchFamily="18" charset="-127"/>
                </a:rPr>
                <a:t>의 원형 확보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8AB34F1-B0D0-4F0F-870F-30123CDF92D8}"/>
              </a:ext>
            </a:extLst>
          </p:cNvPr>
          <p:cNvGrpSpPr/>
          <p:nvPr/>
        </p:nvGrpSpPr>
        <p:grpSpPr>
          <a:xfrm>
            <a:off x="3277926" y="1371600"/>
            <a:ext cx="2592000" cy="2788920"/>
            <a:chOff x="3337560" y="1371600"/>
            <a:chExt cx="2743200" cy="2788920"/>
          </a:xfrm>
        </p:grpSpPr>
        <p:sp>
          <p:nvSpPr>
            <p:cNvPr id="18" name="Shape 16"/>
            <p:cNvSpPr/>
            <p:nvPr/>
          </p:nvSpPr>
          <p:spPr>
            <a:xfrm>
              <a:off x="3337560" y="1371600"/>
              <a:ext cx="2743200" cy="548640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2A2A2A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3429000" y="1399032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kern="0" spc="200" dirty="0">
                  <a:solidFill>
                    <a:schemeClr val="bg1">
                      <a:lumMod val="8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중기 · Phase 2</a:t>
              </a:r>
              <a:endParaRPr lang="en-US" sz="10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42900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자동화와 외연 확장</a:t>
              </a:r>
              <a:endParaRPr lang="en-US" sz="14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3337560" y="1920240"/>
              <a:ext cx="2743200" cy="2240280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429000" y="2066544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566160" y="1947672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aGCR 자동 배정 가동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563938" y="2240279"/>
              <a:ext cx="2423160" cy="37354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설계사 생산성 향상, 리드 </a:t>
              </a:r>
              <a:r>
                <a:rPr 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낭비 </a:t>
              </a:r>
              <a:r>
                <a:rPr lang="ko-KR" alt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감소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3429000" y="2779776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566160" y="2670048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>
                  <a:latin typeface="HY신명조" panose="02030600000101010101" pitchFamily="18" charset="-127"/>
                  <a:ea typeface="HY신명조" panose="02030600000101010101" pitchFamily="18" charset="-127"/>
                </a:rPr>
                <a:t>aGCR </a:t>
              </a:r>
              <a:r>
                <a:rPr lang="ko-KR" altLang="en-US" sz="1200" b="1">
                  <a:latin typeface="HY신명조" panose="02030600000101010101" pitchFamily="18" charset="-127"/>
                  <a:ea typeface="HY신명조" panose="02030600000101010101" pitchFamily="18" charset="-127"/>
                </a:rPr>
                <a:t>등급별 단가 차등화</a:t>
              </a:r>
              <a:endParaRPr lang="en-US" sz="1200" b="1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3566160" y="2962656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품질 기반 수익 모델 전환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3429000" y="3493008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566160" y="3389707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복수 채널 데이터 축적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3563938" y="3665385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KC 진단 품질 고도화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10D6AF-ECF7-45CD-BE56-2384188FD8AA}"/>
              </a:ext>
            </a:extLst>
          </p:cNvPr>
          <p:cNvGrpSpPr/>
          <p:nvPr/>
        </p:nvGrpSpPr>
        <p:grpSpPr>
          <a:xfrm>
            <a:off x="6092026" y="1371600"/>
            <a:ext cx="2592000" cy="2788920"/>
            <a:chOff x="6217920" y="1371600"/>
            <a:chExt cx="2743200" cy="2788920"/>
          </a:xfrm>
        </p:grpSpPr>
        <p:sp>
          <p:nvSpPr>
            <p:cNvPr id="31" name="Shape 29"/>
            <p:cNvSpPr/>
            <p:nvPr/>
          </p:nvSpPr>
          <p:spPr>
            <a:xfrm>
              <a:off x="6217920" y="1371600"/>
              <a:ext cx="2743200" cy="548640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309360" y="1399032"/>
              <a:ext cx="25603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kern="0" spc="200" dirty="0">
                  <a:solidFill>
                    <a:schemeClr val="bg1">
                      <a:lumMod val="85000"/>
                    </a:schemeClr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장기 · Phase 3</a:t>
              </a:r>
              <a:endParaRPr lang="en-US" sz="1000" dirty="0">
                <a:solidFill>
                  <a:schemeClr val="bg1">
                    <a:lumMod val="8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30936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보험시장 인프라</a:t>
              </a:r>
              <a:endParaRPr lang="en-US" sz="14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217920" y="1920240"/>
              <a:ext cx="2743200" cy="2240280"/>
            </a:xfrm>
            <a:prstGeom prst="rect">
              <a:avLst/>
            </a:prstGeom>
            <a:solidFill>
              <a:srgbClr val="FAFAF8"/>
            </a:solidFill>
            <a:ln w="12700">
              <a:solidFill>
                <a:srgbClr val="E8E8E8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6309360" y="2066544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6446520" y="1960262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디지털 트윈 가동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6446520" y="2240280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시장 예측·</a:t>
              </a:r>
              <a:r>
                <a:rPr 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시나리오 시뮬레이션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6309360" y="2779776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6446520" y="2677270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KC = 교체 불가 자산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446520" y="2958084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경쟁사가 살 </a:t>
              </a: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수 없는 지식 해자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309360" y="3493008"/>
              <a:ext cx="82296" cy="82296"/>
            </a:xfrm>
            <a:prstGeom prst="ellipse">
              <a:avLst/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6443663" y="3396996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보험사·GA 의존 인프라 </a:t>
              </a:r>
              <a:r>
                <a:rPr lang="ko-KR" altLang="en-US" sz="1200" b="1">
                  <a:solidFill>
                    <a:srgbClr val="111111"/>
                  </a:solidFill>
                  <a:latin typeface="HY신명조" panose="02030600000101010101" pitchFamily="18" charset="-127"/>
                  <a:ea typeface="HY신명조" panose="02030600000101010101" pitchFamily="18" charset="-127"/>
                  <a:cs typeface="Malgun Gothic" pitchFamily="34" charset="-120"/>
                </a:rPr>
                <a:t>구축</a:t>
              </a:r>
              <a:endParaRPr lang="en-US" sz="12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6446520" y="3680460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55555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플랫폼 락인 완성</a:t>
              </a:r>
              <a:endParaRPr lang="en-US" sz="1100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</p:grpSp>
      <p:sp>
        <p:nvSpPr>
          <p:cNvPr id="44" name="Shape 42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27939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아이지넷은 보험 상품을 파는 회사가 아니다.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algun Gothic" pitchFamily="34" charset="-120"/>
              </a:rPr>
              <a:t>보험시장이 작동하는 방식 자체를 설계하는 보험시장의 팔란티어가 된다.</a:t>
            </a:r>
            <a:endParaRPr lang="en-US" sz="13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Joseph · 사업전략경영기획실장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아이지넷의</a:t>
            </a:r>
            <a:r>
              <a:rPr lang="en-US" sz="3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관리 추진</a:t>
            </a:r>
            <a:r>
              <a:rPr lang="en-US" sz="3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38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비즈니스 </a:t>
            </a:r>
            <a:r>
              <a:rPr lang="en-US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7764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</a:t>
            </a: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 </a:t>
            </a:r>
            <a:r>
              <a:rPr lang="en-US" altLang="ko-KR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개년 비교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0325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</a:t>
            </a:r>
            <a:r>
              <a:rPr lang="en-US" altLang="ko-KR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주가</a:t>
            </a:r>
            <a:r>
              <a:rPr lang="en-US" altLang="ko-KR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altLang="ko-KR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2885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</a:t>
            </a:r>
            <a:r>
              <a:rPr lang="ko-KR" altLang="en-US" sz="13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주가 전략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45445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</a:t>
            </a:r>
            <a:r>
              <a:rPr lang="ko-KR" alt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비즈니스 구조 비교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핵심 비즈니스 모델 비교</a:t>
            </a:r>
            <a:endParaRPr lang="en-US" sz="3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59189"/>
              </p:ext>
            </p:extLst>
          </p:nvPr>
        </p:nvGraphicFramePr>
        <p:xfrm>
          <a:off x="457200" y="1371600"/>
          <a:ext cx="8229600" cy="29992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아이지넷 (AIJINET)</a:t>
                      </a:r>
                      <a:endParaRPr lang="en-US" sz="12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인카금융서비스</a:t>
                      </a:r>
                      <a:endParaRPr lang="en-US" sz="12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Goosehead Insurance</a:t>
                      </a:r>
                      <a:endParaRPr lang="en-US" sz="12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설립·상장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2014년 / 2025.02 코스닥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1999년 / 2022.02 코스닥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2003년 / 2018.04 NASDAQ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비즈니스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인프라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(B2C bodoc앱 + B2B SaaS)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독립 GA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설계사 직접 관리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프랜차이즈 GA 플랫폼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(You Sell, We Service)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역할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 기반 Clark/Lois AI 진단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First Connect 리드 배정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IIMS 업무지원시스템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(AI 아님, 효율화 도구)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Aviator 비교견적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Salesforce CRM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OPM (최신)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8.53% (2025) 성장 초기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9.28% (2025) 성숙 GA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20.37% (2025) GAAP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₩439억 (2026.04)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₩5,759억 (2026.04)</a:t>
                      </a: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₩2.4조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(2026.04)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PSR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1.13x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0.43</a:t>
                      </a:r>
                      <a:r>
                        <a:rPr lang="ko-KR" altLang="ko-KR" sz="12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r>
                        <a:rPr lang="ko-KR" altLang="ko-KR" sz="1200" b="1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366902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1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</a:t>
                      </a:r>
                      <a:endParaRPr lang="en-US" sz="11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17.04x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8.29x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ko-KR" sz="12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70.8x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9486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</a:t>
            </a:r>
            <a:r>
              <a:rPr 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3개년 비교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457200"/>
            <a:ext cx="82296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3개사 </a:t>
            </a: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</a:t>
            </a:r>
            <a:endParaRPr lang="ko-KR" sz="2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Div"/>
          <p:cNvSpPr/>
          <p:nvPr/>
        </p:nvSpPr>
        <p:spPr>
          <a:xfrm>
            <a:off x="457200" y="104000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RowHdr"/>
          <p:cNvSpPr/>
          <p:nvPr/>
        </p:nvSpPr>
        <p:spPr>
          <a:xfrm>
            <a:off x="457200" y="1120000"/>
            <a:ext cx="1100000" cy="330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RowHdrTxt"/>
          <p:cNvSpPr/>
          <p:nvPr/>
        </p:nvSpPr>
        <p:spPr>
          <a:xfrm>
            <a:off x="490000" y="1120000"/>
            <a:ext cx="10300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alt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</a:p>
          <a:p>
            <a:pPr marL="0" indent="0">
              <a:buNone/>
            </a:pPr>
            <a:endParaRPr lang="ko-KR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</a:p>
          <a:p>
            <a:pPr marL="0" indent="0">
              <a:buNone/>
            </a:pPr>
            <a:endParaRPr lang="en-US" alt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</a:p>
          <a:p>
            <a:pPr marL="0" indent="0">
              <a:buNone/>
            </a:pPr>
            <a:endParaRPr lang="ko-KR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endParaRPr lang="en-US" alt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증감</a:t>
            </a:r>
          </a:p>
        </p:txBody>
      </p:sp>
      <p:sp>
        <p:nvSpPr>
          <p:cNvPr id="7" name="Col1Bg"/>
          <p:cNvSpPr/>
          <p:nvPr/>
        </p:nvSpPr>
        <p:spPr>
          <a:xfrm>
            <a:off x="1620000" y="1120000"/>
            <a:ext cx="2320000" cy="3300000"/>
          </a:xfrm>
          <a:prstGeom prst="rect">
            <a:avLst/>
          </a:prstGeom>
          <a:solidFill>
            <a:srgbClr val="111111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" name="Col1Hdr"/>
          <p:cNvSpPr/>
          <p:nvPr/>
        </p:nvSpPr>
        <p:spPr>
          <a:xfrm>
            <a:off x="1620000" y="1120000"/>
            <a:ext cx="2320000" cy="270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Col1HdrTxt"/>
          <p:cNvSpPr/>
          <p:nvPr/>
        </p:nvSpPr>
        <p:spPr>
          <a:xfrm>
            <a:off x="1660000" y="1132000"/>
            <a:ext cx="2240000" cy="24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 (AIJINET)</a:t>
            </a:r>
          </a:p>
        </p:txBody>
      </p:sp>
      <p:sp>
        <p:nvSpPr>
          <p:cNvPr id="10" name="Col1Data"/>
          <p:cNvSpPr/>
          <p:nvPr/>
        </p:nvSpPr>
        <p:spPr>
          <a:xfrm>
            <a:off x="1660000" y="1420000"/>
            <a:ext cx="2240000" cy="29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130억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233억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390억 ↗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[YOY +67.3%]</a:t>
            </a:r>
            <a:endParaRPr lang="ko-KR" sz="1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-32억 (적자)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3.5억  OPM 1.5%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33억  OPM 8.5% ↗</a:t>
            </a: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</a:t>
            </a: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843</a:t>
            </a: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 (흑자전환)</a:t>
            </a:r>
          </a:p>
        </p:txBody>
      </p:sp>
      <p:sp>
        <p:nvSpPr>
          <p:cNvPr id="11" name="Col2Bg"/>
          <p:cNvSpPr/>
          <p:nvPr/>
        </p:nvSpPr>
        <p:spPr>
          <a:xfrm>
            <a:off x="4000000" y="1120000"/>
            <a:ext cx="2320000" cy="330000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Col2Hdr"/>
          <p:cNvSpPr/>
          <p:nvPr/>
        </p:nvSpPr>
        <p:spPr>
          <a:xfrm>
            <a:off x="4000000" y="1120000"/>
            <a:ext cx="2320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Col2HdrTxt"/>
          <p:cNvSpPr/>
          <p:nvPr/>
        </p:nvSpPr>
        <p:spPr>
          <a:xfrm>
            <a:off x="4040000" y="1132000"/>
            <a:ext cx="2240000" cy="24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인카금융서비스</a:t>
            </a:r>
          </a:p>
        </p:txBody>
      </p:sp>
      <p:sp>
        <p:nvSpPr>
          <p:cNvPr id="14" name="Col2Data"/>
          <p:cNvSpPr/>
          <p:nvPr/>
        </p:nvSpPr>
        <p:spPr>
          <a:xfrm>
            <a:off x="4040000" y="1420000"/>
            <a:ext cx="2240000" cy="29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5,568억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8,323억</a:t>
            </a:r>
          </a:p>
          <a:p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1조 217억 ↗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[YOY +22.7%]</a:t>
            </a:r>
            <a:endParaRPr lang="ko-KR" sz="1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465억  OPM 8.3%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863억  OPM 10.4%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948억  OPM 9.3% ↗</a:t>
            </a: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</a:t>
            </a: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+2.0% 개선 (안정 성장)</a:t>
            </a:r>
          </a:p>
        </p:txBody>
      </p:sp>
      <p:sp>
        <p:nvSpPr>
          <p:cNvPr id="15" name="Col3Bg"/>
          <p:cNvSpPr/>
          <p:nvPr/>
        </p:nvSpPr>
        <p:spPr>
          <a:xfrm>
            <a:off x="6380000" y="1120000"/>
            <a:ext cx="2290000" cy="3300000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6" name="Col3Hdr"/>
          <p:cNvSpPr/>
          <p:nvPr/>
        </p:nvSpPr>
        <p:spPr>
          <a:xfrm>
            <a:off x="6380000" y="1120000"/>
            <a:ext cx="2290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Col3HdrTxt"/>
          <p:cNvSpPr/>
          <p:nvPr/>
        </p:nvSpPr>
        <p:spPr>
          <a:xfrm>
            <a:off x="6420000" y="1132000"/>
            <a:ext cx="2210000" cy="24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Goosehead (GSHD)</a:t>
            </a:r>
          </a:p>
        </p:txBody>
      </p:sp>
      <p:sp>
        <p:nvSpPr>
          <p:cNvPr id="18" name="Col3Data"/>
          <p:cNvSpPr/>
          <p:nvPr/>
        </p:nvSpPr>
        <p:spPr>
          <a:xfrm>
            <a:off x="6420000" y="1420000"/>
            <a:ext cx="2266800" cy="29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3,789억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4,560억</a:t>
            </a:r>
          </a:p>
          <a:p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5,297억 ↗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[YOY +16.1%]</a:t>
            </a:r>
            <a:endParaRPr lang="ko-KR" sz="12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478억  OPM 12.6%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885억  OPM 19.4%</a:t>
            </a:r>
          </a:p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1,078억  OPM 20.4% ↗</a:t>
            </a:r>
          </a:p>
          <a:p>
            <a:pPr marL="0" indent="0">
              <a:buNone/>
            </a:pPr>
            <a:endParaRPr lang="en-US" alt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</a:t>
            </a: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+7.8%(레버리지 작동)</a:t>
            </a:r>
          </a:p>
        </p:txBody>
      </p:sp>
      <p:sp>
        <p:nvSpPr>
          <p:cNvPr id="19" name="Footnote"/>
          <p:cNvSpPr/>
          <p:nvPr/>
        </p:nvSpPr>
        <p:spPr>
          <a:xfrm>
            <a:off x="457200" y="4520000"/>
            <a:ext cx="8229600" cy="170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Goosehead 환율: 2023말 ₩1,289/$  2024말 ₩1,472/$  2025 ₩1,450/$(추정)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인카금융서비스 — 코스닥 </a:t>
            </a:r>
            <a:r>
              <a:rPr lang="en-US" sz="2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이전상장</a:t>
            </a: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24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0669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96779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2월 </a:t>
            </a:r>
            <a:r>
              <a:rPr lang="en-US" sz="12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이전상장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</a:t>
            </a: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매출증가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OPM</a:t>
            </a: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개선으로 지속적인 주가 상승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</a:t>
            </a:r>
            <a:r>
              <a:rPr lang="en-US" altLang="ko-KR" sz="12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11,000</a:t>
            </a:r>
            <a:r>
              <a:rPr lang="ko-KR" alt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(2026.04 </a:t>
            </a:r>
            <a:r>
              <a:rPr lang="en-US" altLang="ko-KR" sz="12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pic>
        <p:nvPicPr>
          <p:cNvPr id="6" name="Image 0" descr="/mnt/user-data/outputs/joseph_chart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71" y="1788309"/>
            <a:ext cx="9106913" cy="3355191"/>
          </a:xfrm>
          <a:prstGeom prst="rect">
            <a:avLst/>
          </a:prstGeom>
        </p:spPr>
      </p:pic>
      <p:sp>
        <p:nvSpPr>
          <p:cNvPr id="99" name="InkaMktCap"/>
          <p:cNvSpPr/>
          <p:nvPr/>
        </p:nvSpPr>
        <p:spPr>
          <a:xfrm>
            <a:off x="457200" y="1441733"/>
            <a:ext cx="8229600" cy="31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 9.5x 성장  </a:t>
            </a: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연말 시총: 2022: 692억  →  2023: 1,629억  →  2024: 2,882억  →  2025: 6,581억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62576"/>
            <a:ext cx="8229600" cy="459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Goosehead Insurance — NASDAQ 상장 </a:t>
            </a:r>
            <a:r>
              <a:rPr lang="en-US" sz="2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4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45322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9506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4월 NASDAQ 상장 | 2021.10 ATH $181.30 → 2022 급락 → 회복 | 현재 $42대 (2026.04 기준)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033CC5-D70A-1CB6-7202-51BE05994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834"/>
            <a:ext cx="9144000" cy="3519065"/>
          </a:xfrm>
          <a:prstGeom prst="rect">
            <a:avLst/>
          </a:prstGeom>
        </p:spPr>
      </p:pic>
      <p:sp>
        <p:nvSpPr>
          <p:cNvPr id="99" name="GSHDMktCap"/>
          <p:cNvSpPr/>
          <p:nvPr/>
        </p:nvSpPr>
        <p:spPr>
          <a:xfrm>
            <a:off x="457200" y="1230682"/>
            <a:ext cx="8229600" cy="31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GSHD 2.5x 성장  </a:t>
            </a: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연말 시총(원화): 2022: 1조 6,558억  →  2023: 3조 5,447억  →  2024: 5조 7,260억  →  2025: 4조 1,447억</a:t>
            </a:r>
            <a:endParaRPr lang="ko-KR" sz="105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</a:t>
            </a: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</a:t>
            </a: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24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744" y="1453896"/>
            <a:ext cx="755727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GSHD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0" y="140817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444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2018~2021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19072" y="16642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IPO 후 폭발 성장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상장시총 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3,800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140817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1444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(위기)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13632" y="16642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 확장 부작용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 16.5%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급락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140817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444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2023~2024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08192" y="16642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구조조정 완료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 32%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613" y="2450592"/>
            <a:ext cx="129145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인카금융서비스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45920" y="241401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24505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9072" y="26700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상장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 925억·OPM 6.8%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40480" y="241401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3632" y="24505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13632" y="26700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+39%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OPM 8.3%·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설계사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35040" y="241401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24505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2024~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08192" y="26700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지속적인 매출 성장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OPM 10.4%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896112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564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45920" y="341985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19072" y="34564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2025.02 상장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19072" y="3675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공모가 7,000원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 1,267억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840480" y="341985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34564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2026.04.09 현재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13632" y="3675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439억</a:t>
            </a:r>
          </a:p>
          <a:p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OPM 8.5%</a:t>
            </a:r>
          </a:p>
        </p:txBody>
      </p:sp>
      <p:sp>
        <p:nvSpPr>
          <p:cNvPr id="35" name="Shape 33"/>
          <p:cNvSpPr/>
          <p:nvPr/>
        </p:nvSpPr>
        <p:spPr>
          <a:xfrm>
            <a:off x="6035040" y="3419856"/>
            <a:ext cx="201168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4564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12~18개월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08192" y="367588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보닥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Saas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확대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OPM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434839"/>
            <a:ext cx="8229600" cy="58091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434840"/>
            <a:ext cx="45719" cy="5809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4622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아이지넷은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25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매출 성장 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 67.3%, OPM 8.5%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 </a:t>
            </a:r>
            <a:endParaRPr lang="en-US" altLang="ko-KR" sz="11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Goosehead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2020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매출 성장 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YOY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51% , </a:t>
            </a: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인카의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2022년 OPM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6.8%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</a:t>
            </a: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구간에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아이지넷이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한다고 판단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회사 </a:t>
            </a: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구간이후  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~3년 내 </a:t>
            </a:r>
            <a:r>
              <a:rPr 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3~8배 성장 달성.</a:t>
            </a:r>
            <a:endParaRPr lang="en-US" sz="11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N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</a:t>
            </a: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전략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457200"/>
            <a:ext cx="8229600" cy="59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</a:t>
            </a:r>
            <a:r>
              <a:rPr lang="ko-KR" altLang="en-US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관리 </a:t>
            </a:r>
            <a:r>
              <a:rPr lang="en-US" sz="26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26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Line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82911"/>
              </p:ext>
            </p:extLst>
          </p:nvPr>
        </p:nvGraphicFramePr>
        <p:xfrm>
          <a:off x="457200" y="1152000"/>
          <a:ext cx="8229600" cy="1430000"/>
        </p:xfrm>
        <a:graphic>
          <a:graphicData uri="http://schemas.openxmlformats.org/drawingml/2006/table">
            <a:tbl>
              <a:tblPr/>
              <a:tblGrid>
                <a:gridCol w="18292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16001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6001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6001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6001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111111"/>
                      </a:solidFill>
                      <a:prstDash val="solid"/>
                    </a:lnL>
                    <a:lnR w="6350">
                      <a:solidFill>
                        <a:srgbClr val="111111"/>
                      </a:solidFill>
                      <a:prstDash val="solid"/>
                    </a:lnR>
                    <a:lnT w="635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111111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아이지넷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111111"/>
                      </a:solidFill>
                      <a:prstDash val="solid"/>
                    </a:lnL>
                    <a:lnR w="6350">
                      <a:solidFill>
                        <a:srgbClr val="111111"/>
                      </a:solidFill>
                      <a:prstDash val="solid"/>
                    </a:lnR>
                    <a:lnT w="635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111111"/>
                      </a:solidFill>
                      <a:prstDash val="soli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인카금융서비스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111111"/>
                      </a:solidFill>
                      <a:prstDash val="solid"/>
                    </a:lnL>
                    <a:lnR w="6350">
                      <a:solidFill>
                        <a:srgbClr val="111111"/>
                      </a:solidFill>
                      <a:prstDash val="solid"/>
                    </a:lnR>
                    <a:lnT w="635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111111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쿠콘</a:t>
                      </a:r>
                      <a:endParaRPr lang="en-US" sz="1000" b="1" dirty="0">
                        <a:solidFill>
                          <a:schemeClr val="bg1"/>
                        </a:solidFill>
                        <a:highlight>
                          <a:srgbClr val="000000"/>
                        </a:highlight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111111"/>
                      </a:solidFill>
                      <a:prstDash val="solid"/>
                    </a:lnL>
                    <a:lnR w="6350">
                      <a:solidFill>
                        <a:srgbClr val="111111"/>
                      </a:solidFill>
                      <a:prstDash val="solid"/>
                    </a:lnR>
                    <a:lnT w="635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11111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이노룰스</a:t>
                      </a:r>
                    </a:p>
                  </a:txBody>
                  <a:tcPr>
                    <a:lnL w="6350">
                      <a:solidFill>
                        <a:srgbClr val="111111"/>
                      </a:solidFill>
                      <a:prstDash val="solid"/>
                    </a:lnL>
                    <a:lnR w="6350">
                      <a:solidFill>
                        <a:srgbClr val="111111"/>
                      </a:solidFill>
                      <a:prstDash val="solid"/>
                    </a:lnR>
                    <a:lnT w="6350">
                      <a:solidFill>
                        <a:srgbClr val="111111"/>
                      </a:solidFill>
                      <a:prstDash val="solid"/>
                    </a:lnT>
                    <a:lnB w="6350">
                      <a:solidFill>
                        <a:srgbClr val="11111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현재주가 (26.04.09)</a:t>
                      </a:r>
                      <a:endParaRPr lang="en-US" sz="9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2,405원</a:t>
                      </a:r>
                      <a:endParaRPr lang="en-US" sz="10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11,700원</a:t>
                      </a:r>
                      <a:endParaRPr lang="en-US" sz="10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26,800원</a:t>
                      </a:r>
                      <a:endParaRPr lang="en-US" sz="10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7,030원</a:t>
                      </a:r>
                      <a:endParaRPr lang="en-US" sz="10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EPS (25년 12월말)</a:t>
                      </a:r>
                      <a:endParaRPr lang="en-US" sz="9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141원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1,410원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2,105원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499원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 (현재)</a:t>
                      </a:r>
                      <a:endParaRPr lang="en-US" sz="9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17.04x ▲고평가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8.29x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12.73x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14.09x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</a:t>
                      </a:r>
                      <a:endParaRPr lang="en-US" sz="95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439억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5,764억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2,705억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364억</a:t>
                      </a:r>
                      <a:endParaRPr lang="en-US" sz="1000" b="1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>
                    <a:lnL w="6350">
                      <a:solidFill>
                        <a:srgbClr val="E8E8E8"/>
                      </a:solidFill>
                      <a:prstDash val="solid"/>
                    </a:lnL>
                    <a:lnR w="6350">
                      <a:solidFill>
                        <a:srgbClr val="E8E8E8"/>
                      </a:solidFill>
                      <a:prstDash val="solid"/>
                    </a:lnR>
                    <a:lnT w="6350">
                      <a:solidFill>
                        <a:srgbClr val="E8E8E8"/>
                      </a:solidFill>
                      <a:prstDash val="solid"/>
                    </a:lnT>
                    <a:lnB w="6350">
                      <a:solidFill>
                        <a:srgbClr val="E8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"/>
                  </a:ext>
                </a:extLst>
              </a:tr>
            </a:tbl>
          </a:graphicData>
        </a:graphic>
      </p:graphicFrame>
      <p:sp>
        <p:nvSpPr>
          <p:cNvPr id="30" name="BoxInsight"/>
          <p:cNvSpPr/>
          <p:nvPr/>
        </p:nvSpPr>
        <p:spPr>
          <a:xfrm>
            <a:off x="457200" y="2625600"/>
            <a:ext cx="8229600" cy="3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과제: 아이지넷 PER 17.04x = 동종 업체 중 최고 수준. 이는 시장이 성장 기대를 이미 </a:t>
            </a:r>
            <a:r>
              <a:rPr lang="en-US" sz="105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→ 실적으로 정당화하거나, AI 플랫폼 재평가로 </a:t>
            </a:r>
            <a:r>
              <a:rPr lang="en-US" sz="105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배수를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확대</a:t>
            </a:r>
            <a:r>
              <a:rPr lang="en-US" sz="105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함.</a:t>
            </a:r>
          </a:p>
        </p:txBody>
      </p:sp>
      <p:sp>
        <p:nvSpPr>
          <p:cNvPr id="31" name="StratTitle"/>
          <p:cNvSpPr/>
          <p:nvPr/>
        </p:nvSpPr>
        <p:spPr>
          <a:xfrm>
            <a:off x="457200" y="3080000"/>
            <a:ext cx="8229600" cy="2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관리 </a:t>
            </a:r>
            <a:r>
              <a:rPr lang="en-US" sz="14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14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0" name="Card1"/>
          <p:cNvSpPr/>
          <p:nvPr/>
        </p:nvSpPr>
        <p:spPr>
          <a:xfrm>
            <a:off x="457199" y="3380000"/>
            <a:ext cx="2683793" cy="694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 wrap="square" lIns="91440" tIns="91440" rIns="91440" bIns="4572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EPS 성장 증명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EPS 141원. 목표: 250~300원. OPM 10%+ 달성 시 EPS × PER 20x = </a:t>
            </a:r>
            <a:r>
              <a:rPr lang="en-US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600억</a:t>
            </a:r>
          </a:p>
        </p:txBody>
      </p:sp>
      <p:sp>
        <p:nvSpPr>
          <p:cNvPr id="41" name="Card2"/>
          <p:cNvSpPr/>
          <p:nvPr/>
        </p:nvSpPr>
        <p:spPr>
          <a:xfrm>
            <a:off x="3203218" y="3380000"/>
            <a:ext cx="2683793" cy="694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 wrap="square" lIns="91440" tIns="91440" rIns="91440" bIns="45720" rtlCol="0" anchor="t"/>
          <a:lstStyle/>
          <a:p>
            <a:r>
              <a:rPr lang="en-US" sz="10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SaaS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</a:t>
            </a:r>
            <a:r>
              <a:rPr lang="en-US" altLang="ko-KR" sz="105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altLang="ko-KR" sz="1050" b="1" dirty="0">
              <a:solidFill>
                <a:srgbClr val="C81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GA 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OPM 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SaaS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회사로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재분류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(PSR 2x)</a:t>
            </a:r>
          </a:p>
        </p:txBody>
      </p:sp>
      <p:sp>
        <p:nvSpPr>
          <p:cNvPr id="42" name="Card3"/>
          <p:cNvSpPr/>
          <p:nvPr/>
        </p:nvSpPr>
        <p:spPr>
          <a:xfrm>
            <a:off x="5996287" y="3380000"/>
            <a:ext cx="2683793" cy="69445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 wrap="square" lIns="91440" tIns="91440" rIns="91440" bIns="45720" rtlCol="0" anchor="t"/>
          <a:lstStyle/>
          <a:p>
            <a:r>
              <a:rPr lang="en-US" sz="10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r>
              <a:rPr lang="en-US" altLang="ko-KR" sz="10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AI OS </a:t>
            </a:r>
            <a:r>
              <a:rPr lang="en-US" altLang="ko-KR" sz="1000" b="1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내러티브</a:t>
            </a:r>
            <a:endParaRPr lang="en-US" altLang="ko-KR" sz="1000" b="1" dirty="0">
              <a:solidFill>
                <a:srgbClr val="C81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GA’에서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‘AI 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유통회사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’로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내러티브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→ PSR 3~5</a:t>
            </a:r>
            <a:r>
              <a:rPr lang="ko-KR" alt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 적용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2000억 </a:t>
            </a:r>
            <a:r>
              <a:rPr lang="en-US" altLang="ko-KR" sz="9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</a:t>
            </a:r>
            <a:r>
              <a:rPr lang="en-US" altLang="ko-KR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buNone/>
            </a:pPr>
            <a:endParaRPr lang="en-US" sz="9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BoxInsight">
            <a:extLst>
              <a:ext uri="{FF2B5EF4-FFF2-40B4-BE49-F238E27FC236}">
                <a16:creationId xmlns:a16="http://schemas.microsoft.com/office/drawing/2014/main" id="{BE69276B-9154-1BE6-235A-6ECD761902C9}"/>
              </a:ext>
            </a:extLst>
          </p:cNvPr>
          <p:cNvSpPr/>
          <p:nvPr/>
        </p:nvSpPr>
        <p:spPr>
          <a:xfrm>
            <a:off x="468404" y="4169778"/>
            <a:ext cx="8229600" cy="516522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선결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과제: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수습개선 위한 신규 개인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기관투자자 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→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</a:t>
            </a:r>
            <a:r>
              <a:rPr 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기존 기관투자자 주주 매도 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 </a:t>
            </a:r>
            <a:r>
              <a:rPr lang="ko-KR" altLang="en-US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r>
              <a:rPr lang="en-US" altLang="ko-KR" sz="105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r>
              <a:rPr lang="en-US" altLang="ko-KR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ko-KR" sz="1000" b="1" kern="0" spc="400" dirty="0">
              <a:solidFill>
                <a:srgbClr val="C81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itle"/>
          <p:cNvSpPr/>
          <p:nvPr/>
        </p:nvSpPr>
        <p:spPr>
          <a:xfrm>
            <a:off x="457200" y="457200"/>
            <a:ext cx="82296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동종 AI SaaS 비교기업 밸류에이션</a:t>
            </a:r>
          </a:p>
        </p:txBody>
      </p:sp>
      <p:sp>
        <p:nvSpPr>
          <p:cNvPr id="4" name="Div"/>
          <p:cNvSpPr/>
          <p:nvPr/>
        </p:nvSpPr>
        <p:spPr>
          <a:xfrm>
            <a:off x="457200" y="1040000"/>
            <a:ext cx="4572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C1Bg"/>
          <p:cNvSpPr/>
          <p:nvPr/>
        </p:nvSpPr>
        <p:spPr>
          <a:xfrm>
            <a:off x="457200" y="1130000"/>
            <a:ext cx="1548000" cy="25208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C1Hdr"/>
          <p:cNvSpPr/>
          <p:nvPr/>
        </p:nvSpPr>
        <p:spPr>
          <a:xfrm>
            <a:off x="457200" y="1130000"/>
            <a:ext cx="1548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C1Data"/>
          <p:cNvSpPr/>
          <p:nvPr/>
        </p:nvSpPr>
        <p:spPr>
          <a:xfrm>
            <a:off x="490000" y="1140000"/>
            <a:ext cx="1480000" cy="30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쿠콘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API 플랫폼</a:t>
            </a: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(마이데이터)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</a:p>
          <a:p>
            <a:pPr marL="0" indent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2,725억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</a:p>
          <a:p>
            <a:pPr marL="0" indent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12.7x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2025</a:t>
            </a:r>
          </a:p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188억</a:t>
            </a:r>
          </a:p>
        </p:txBody>
      </p:sp>
      <p:sp>
        <p:nvSpPr>
          <p:cNvPr id="8" name="C2Bg"/>
          <p:cNvSpPr/>
          <p:nvPr/>
        </p:nvSpPr>
        <p:spPr>
          <a:xfrm>
            <a:off x="2068000" y="1130000"/>
            <a:ext cx="1548000" cy="25208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C2Hdr"/>
          <p:cNvSpPr/>
          <p:nvPr/>
        </p:nvSpPr>
        <p:spPr>
          <a:xfrm>
            <a:off x="2068000" y="1130000"/>
            <a:ext cx="1548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C2Data"/>
          <p:cNvSpPr/>
          <p:nvPr/>
        </p:nvSpPr>
        <p:spPr>
          <a:xfrm>
            <a:off x="2105000" y="1140000"/>
            <a:ext cx="1480000" cy="30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슈프리마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보안 SaaS</a:t>
            </a: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솔루션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</a:p>
          <a:p>
            <a:pPr marL="0" indent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3,205억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</a:p>
          <a:p>
            <a:pPr marL="0" indent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10.2x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2025</a:t>
            </a:r>
          </a:p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327억</a:t>
            </a:r>
          </a:p>
        </p:txBody>
      </p:sp>
      <p:sp>
        <p:nvSpPr>
          <p:cNvPr id="11" name="C3Bg"/>
          <p:cNvSpPr/>
          <p:nvPr/>
        </p:nvSpPr>
        <p:spPr>
          <a:xfrm>
            <a:off x="3679000" y="1130000"/>
            <a:ext cx="1548000" cy="25208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C3Hdr"/>
          <p:cNvSpPr/>
          <p:nvPr/>
        </p:nvSpPr>
        <p:spPr>
          <a:xfrm>
            <a:off x="3679000" y="1130000"/>
            <a:ext cx="1548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C3Data"/>
          <p:cNvSpPr/>
          <p:nvPr/>
        </p:nvSpPr>
        <p:spPr>
          <a:xfrm>
            <a:off x="3716000" y="1140000"/>
            <a:ext cx="1480000" cy="30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웹케시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금융 AI</a:t>
            </a: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에이전트/SaaS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</a:p>
          <a:p>
            <a:pPr marL="0" indent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1,132억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</a:p>
          <a:p>
            <a:pPr marL="0" indent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9.1x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2025</a:t>
            </a:r>
          </a:p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134억</a:t>
            </a:r>
          </a:p>
        </p:txBody>
      </p:sp>
      <p:sp>
        <p:nvSpPr>
          <p:cNvPr id="14" name="C4Bg"/>
          <p:cNvSpPr/>
          <p:nvPr/>
        </p:nvSpPr>
        <p:spPr>
          <a:xfrm>
            <a:off x="5290000" y="1130000"/>
            <a:ext cx="1548000" cy="25208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C4Hdr"/>
          <p:cNvSpPr/>
          <p:nvPr/>
        </p:nvSpPr>
        <p:spPr>
          <a:xfrm>
            <a:off x="5290000" y="1130000"/>
            <a:ext cx="1548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C4Data"/>
          <p:cNvSpPr/>
          <p:nvPr/>
        </p:nvSpPr>
        <p:spPr>
          <a:xfrm>
            <a:off x="5327000" y="1140000"/>
            <a:ext cx="1480000" cy="30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케이아이엔엑스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허브</a:t>
            </a: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IX 플랫폼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</a:p>
          <a:p>
            <a:pPr marL="0" indent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4,978억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</a:p>
          <a:p>
            <a:pPr marL="0" indent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29.1x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2025</a:t>
            </a:r>
          </a:p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310억</a:t>
            </a:r>
          </a:p>
        </p:txBody>
      </p:sp>
      <p:sp>
        <p:nvSpPr>
          <p:cNvPr id="17" name="C5Bg"/>
          <p:cNvSpPr/>
          <p:nvPr/>
        </p:nvSpPr>
        <p:spPr>
          <a:xfrm>
            <a:off x="6901000" y="1130000"/>
            <a:ext cx="1548000" cy="25208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C5Hdr"/>
          <p:cNvSpPr/>
          <p:nvPr/>
        </p:nvSpPr>
        <p:spPr>
          <a:xfrm>
            <a:off x="6901000" y="1130000"/>
            <a:ext cx="1548000" cy="270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C5Data"/>
          <p:cNvSpPr/>
          <p:nvPr/>
        </p:nvSpPr>
        <p:spPr>
          <a:xfrm>
            <a:off x="6938000" y="1140000"/>
            <a:ext cx="1480000" cy="30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모니터랩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보안</a:t>
            </a:r>
          </a:p>
          <a:p>
            <a:pPr marL="0" indent="0">
              <a:buNone/>
            </a:pPr>
            <a:r>
              <a:rPr lang="ko-KR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(SECaaS)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시총</a:t>
            </a:r>
          </a:p>
          <a:p>
            <a:pPr marL="0" indent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407억</a:t>
            </a: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</a:p>
          <a:p>
            <a:pPr marL="0" indent="0">
              <a:buNone/>
            </a:pPr>
            <a:r>
              <a:rPr lang="ko-KR" sz="18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64.1x</a:t>
            </a:r>
            <a:endParaRPr lang="ko-KR" sz="1050" b="1" dirty="0">
              <a:solidFill>
                <a:srgbClr val="C8102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sz="9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2025</a:t>
            </a:r>
          </a:p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65억</a:t>
            </a:r>
          </a:p>
        </p:txBody>
      </p:sp>
      <p:sp>
        <p:nvSpPr>
          <p:cNvPr id="20" name="Insight"/>
          <p:cNvSpPr/>
          <p:nvPr/>
        </p:nvSpPr>
        <p:spPr>
          <a:xfrm>
            <a:off x="457200" y="3803676"/>
            <a:ext cx="7991800" cy="886612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LAcc"/>
          <p:cNvSpPr/>
          <p:nvPr/>
        </p:nvSpPr>
        <p:spPr>
          <a:xfrm>
            <a:off x="457200" y="3803676"/>
            <a:ext cx="45719" cy="8866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InsightTxt"/>
          <p:cNvSpPr/>
          <p:nvPr/>
        </p:nvSpPr>
        <p:spPr>
          <a:xfrm>
            <a:off x="594360" y="3803676"/>
            <a:ext cx="7955280" cy="869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업체 고</a:t>
            </a: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PER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추가 없이 소프트웨어 만으로 글로벌 서비스 가능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이익 성장 </a:t>
            </a:r>
            <a:r>
              <a:rPr lang="ko-KR" altLang="en-US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기대율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부여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1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구독모델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고정적인 반복매출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(Recurring Revenue)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가능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안정성에 높은 배수 부여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1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전환비용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 구축된 환경 전환 어려움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(Lock-In)[</a:t>
            </a: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생존가능성에 배수 부여</a:t>
            </a:r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ko-KR" sz="11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 err="1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1000" b="1" kern="0" spc="400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아이지넷의</a:t>
            </a:r>
            <a:r>
              <a:rPr lang="en-US" sz="3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IR POINT</a:t>
            </a:r>
            <a:endParaRPr lang="en-US" sz="30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아이지넷 ≠ 단순 GA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 기반 Clark/Lois AI 진단 + First Connect 리드 배정 SaaS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외부공급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148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현재는 '투자 초기' 구간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10328" y="1755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인카의 코스닥 상장 직후(2022), Goosehead의 NASDAQ 상장 초기(2018)와 동일한 구간. </a:t>
            </a:r>
          </a:p>
          <a:p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회사 모두 3~5년 내 시총 3~15배 성장.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1148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OPM 개선 경로 명확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2990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증가 시 OPM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</a:t>
            </a:r>
            <a:r>
              <a:rPr lang="ko-KR" alt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영업레버리지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구간 진입</a:t>
            </a:r>
            <a:endParaRPr lang="en-US" altLang="ko-KR" sz="12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YOY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+843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%(3.5억→33억)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0" y="2606040"/>
            <a:ext cx="41148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리레이팅 트리거 존재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10328" y="2990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CONNECT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'보험 GA'에서 '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'로 내러티브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PSR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3~5배 재평가 가능.</a:t>
            </a:r>
            <a:endParaRPr lang="en-US" sz="12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141166"/>
            <a:ext cx="8229600" cy="731520"/>
          </a:xfrm>
          <a:prstGeom prst="rect">
            <a:avLst/>
          </a:prstGeom>
          <a:solidFill>
            <a:srgbClr val="111111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34446"/>
            <a:ext cx="45720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8931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"보험을 파는 회사가 아니라, 보험이 팔리는 인프라를 만드는 </a:t>
            </a:r>
            <a:r>
              <a:rPr lang="en-US" sz="1300" b="1" dirty="0" err="1">
                <a:solidFill>
                  <a:srgbClr val="E8E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r>
              <a:rPr lang="en-US" sz="1300" b="1" dirty="0">
                <a:solidFill>
                  <a:srgbClr val="E8E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300" b="1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2085</Words>
  <Application>Microsoft Office PowerPoint</Application>
  <PresentationFormat>화면 슬라이드 쇼(16:9)</PresentationFormat>
  <Paragraphs>494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HY신명조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아이지넷 사업간담회 2026.04.13</dc:title>
  <dc:subject>PptxGenJS Presentation</dc:subject>
  <dc:creator>Jason</dc:creator>
  <cp:lastModifiedBy>Joseph-W</cp:lastModifiedBy>
  <cp:revision>19</cp:revision>
  <dcterms:created xsi:type="dcterms:W3CDTF">2026-04-08T06:14:42Z</dcterms:created>
  <dcterms:modified xsi:type="dcterms:W3CDTF">2026-04-10T02:22:20Z</dcterms:modified>
</cp:coreProperties>
</file>